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80" r:id="rId1"/>
  </p:sldMasterIdLst>
  <p:notesMasterIdLst>
    <p:notesMasterId r:id="rId13"/>
  </p:notesMasterIdLst>
  <p:sldIdLst>
    <p:sldId id="500" r:id="rId2"/>
    <p:sldId id="492" r:id="rId3"/>
    <p:sldId id="493" r:id="rId4"/>
    <p:sldId id="499" r:id="rId5"/>
    <p:sldId id="494" r:id="rId6"/>
    <p:sldId id="495" r:id="rId7"/>
    <p:sldId id="496" r:id="rId8"/>
    <p:sldId id="497" r:id="rId9"/>
    <p:sldId id="498" r:id="rId10"/>
    <p:sldId id="501" r:id="rId11"/>
    <p:sldId id="430" r:id="rId1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00" autoAdjust="0"/>
    <p:restoredTop sz="99110" autoAdjust="0"/>
  </p:normalViewPr>
  <p:slideViewPr>
    <p:cSldViewPr>
      <p:cViewPr varScale="1">
        <p:scale>
          <a:sx n="135" d="100"/>
          <a:sy n="135" d="100"/>
        </p:scale>
        <p:origin x="82" y="91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3" d="100"/>
          <a:sy n="53" d="100"/>
        </p:scale>
        <p:origin x="-2832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287FA5-C067-4E4F-8147-A77E89348119}" type="datetimeFigureOut">
              <a:rPr lang="en-US" smtClean="0"/>
              <a:pPr/>
              <a:t>11/23/2024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15BE67-2E9A-447C-AF46-59D272817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328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5800" y="4914900"/>
            <a:ext cx="2133600" cy="2738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8FCD1C-8588-4709-BEB2-73486BCF474D}" type="datetime5">
              <a:rPr lang="en-US" smtClean="0"/>
              <a:t>23-Nov-24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914900"/>
            <a:ext cx="2895600" cy="2738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Title of Seminar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914900"/>
            <a:ext cx="2133600" cy="2738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3676827"/>
      </p:ext>
    </p:extLst>
  </p:cSld>
  <p:clrMapOvr>
    <a:masterClrMapping/>
  </p:clrMapOvr>
  <p:transition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000" y="4914900"/>
            <a:ext cx="1676400" cy="228600"/>
          </a:xfrm>
        </p:spPr>
        <p:txBody>
          <a:bodyPr/>
          <a:lstStyle/>
          <a:p>
            <a:fld id="{8D3E23C1-5B44-4112-93AF-A30E9A7C524B}" type="datetime5">
              <a:rPr lang="en-US" smtClean="0"/>
              <a:t>23-Nov-24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90800" y="4933950"/>
            <a:ext cx="3962400" cy="228600"/>
          </a:xfrm>
        </p:spPr>
        <p:txBody>
          <a:bodyPr/>
          <a:lstStyle/>
          <a:p>
            <a:r>
              <a:rPr lang="en-US" dirty="0"/>
              <a:t>Title of Seminar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43800" y="4914900"/>
            <a:ext cx="1143000" cy="2286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421197"/>
      </p:ext>
    </p:extLst>
  </p:cSld>
  <p:clrMapOvr>
    <a:masterClrMapping/>
  </p:clrMapOvr>
  <p:transition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000" y="4914900"/>
            <a:ext cx="1447800" cy="228600"/>
          </a:xfrm>
        </p:spPr>
        <p:txBody>
          <a:bodyPr/>
          <a:lstStyle/>
          <a:p>
            <a:fld id="{7E8AD04D-D170-40EE-B403-D97B74D6DFB9}" type="datetime5">
              <a:rPr lang="en-US" smtClean="0"/>
              <a:t>23-Nov-24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90800" y="4914900"/>
            <a:ext cx="3962400" cy="228600"/>
          </a:xfrm>
        </p:spPr>
        <p:txBody>
          <a:bodyPr/>
          <a:lstStyle/>
          <a:p>
            <a:r>
              <a:rPr lang="en-US"/>
              <a:t>Title of Seminar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39000" y="4914900"/>
            <a:ext cx="1447800" cy="2286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345495"/>
      </p:ext>
    </p:extLst>
  </p:cSld>
  <p:clrMapOvr>
    <a:masterClrMapping/>
  </p:clrMapOvr>
  <p:transition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C436A-7370-4199-BDE3-9FA46362589A}" type="datetime5">
              <a:rPr lang="en-US" smtClean="0"/>
              <a:t>23-Nov-24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Seminar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222900"/>
      </p:ext>
    </p:extLst>
  </p:cSld>
  <p:clrMapOvr>
    <a:masterClrMapping/>
  </p:clrMapOvr>
  <p:transition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FA6F7-2FD3-4E44-96EF-0AABFEB3FD4C}" type="datetime5">
              <a:rPr lang="en-US" smtClean="0"/>
              <a:t>23-Nov-24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Seminar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995737"/>
      </p:ext>
    </p:extLst>
  </p:cSld>
  <p:clrMapOvr>
    <a:masterClrMapping/>
  </p:clrMapOvr>
  <p:transition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87E73-BF7C-4D7B-AD77-6EC912569560}" type="datetime5">
              <a:rPr lang="en-US" smtClean="0"/>
              <a:t>23-Nov-24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Seminar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006472"/>
      </p:ext>
    </p:extLst>
  </p:cSld>
  <p:clrMapOvr>
    <a:masterClrMapping/>
  </p:clrMapOvr>
  <p:transition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51FB8-617B-4727-8374-B778C5FC049E}" type="datetime5">
              <a:rPr lang="en-US" smtClean="0"/>
              <a:t>23-Nov-24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Seminar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615902"/>
      </p:ext>
    </p:extLst>
  </p:cSld>
  <p:clrMapOvr>
    <a:masterClrMapping/>
  </p:clrMapOvr>
  <p:transition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401DF-D39C-424B-AD8B-46E59B2896B9}" type="datetime5">
              <a:rPr lang="en-US" smtClean="0"/>
              <a:t>23-Nov-24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Seminar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425427"/>
      </p:ext>
    </p:extLst>
  </p:cSld>
  <p:clrMapOvr>
    <a:masterClrMapping/>
  </p:clrMapOvr>
  <p:transition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D6C55-F6DB-479E-B4FF-F57EC2760E6F}" type="datetime5">
              <a:rPr lang="en-US" smtClean="0"/>
              <a:t>23-Nov-24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Seminar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87466"/>
      </p:ext>
    </p:extLst>
  </p:cSld>
  <p:clrMapOvr>
    <a:masterClrMapping/>
  </p:clrMapOvr>
  <p:transition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2AEE2-BAD7-4BEC-8CB0-1B79A92617B4}" type="datetime5">
              <a:rPr lang="en-US" smtClean="0"/>
              <a:t>23-Nov-24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Seminar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133303"/>
      </p:ext>
    </p:extLst>
  </p:cSld>
  <p:clrMapOvr>
    <a:masterClrMapping/>
  </p:clrMapOvr>
  <p:transition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3468C-78FC-431C-9733-A70C6804E538}" type="datetime5">
              <a:rPr lang="en-US" smtClean="0"/>
              <a:t>23-Nov-24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Seminar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373509"/>
      </p:ext>
    </p:extLst>
  </p:cSld>
  <p:clrMapOvr>
    <a:masterClrMapping/>
  </p:clrMapOvr>
  <p:transition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>
            <a:alpha val="22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 descr="Picture1.png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7542" y="4837714"/>
            <a:ext cx="9126458" cy="305786"/>
          </a:xfrm>
          <a:prstGeom prst="rect">
            <a:avLst/>
          </a:prstGeom>
        </p:spPr>
      </p:pic>
      <p:pic>
        <p:nvPicPr>
          <p:cNvPr id="7" name="Picture 6" descr="Picture2.png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25400" y="4592827"/>
            <a:ext cx="660400" cy="535584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2000" y="4914900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43FA7430-01A1-4F5E-B7E3-1D80248A6685}" type="datetime5">
              <a:rPr lang="en-US" smtClean="0"/>
              <a:t>23-Nov-24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914900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Title of Seminar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914900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367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ransition>
    <p:wipe/>
  </p:transition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85749"/>
            <a:ext cx="7772400" cy="3276601"/>
          </a:xfrm>
        </p:spPr>
        <p:txBody>
          <a:bodyPr>
            <a:noAutofit/>
          </a:bodyPr>
          <a:lstStyle/>
          <a:p>
            <a:r>
              <a:rPr lang="en-IN" sz="1800" dirty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 Mini Project  on</a:t>
            </a:r>
            <a:br>
              <a:rPr lang="en-IN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en-IN" sz="1800" b="0" i="0" u="none" strike="noStrike" baseline="0" dirty="0">
                <a:solidFill>
                  <a:srgbClr val="800000"/>
                </a:solidFill>
                <a:latin typeface="Times New Roman" panose="02020603050405020304" pitchFamily="18" charset="0"/>
              </a:rPr>
              <a:t>“</a:t>
            </a:r>
            <a:r>
              <a:rPr lang="en-US" sz="1800" b="0" i="0" u="none" strike="noStrike" baseline="0" dirty="0">
                <a:solidFill>
                  <a:srgbClr val="8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1" i="0" u="none" strike="noStrike" baseline="0" dirty="0">
                <a:solidFill>
                  <a:srgbClr val="800000"/>
                </a:solidFill>
                <a:latin typeface="Times New Roman" panose="02020603050405020304" pitchFamily="18" charset="0"/>
              </a:rPr>
              <a:t>SMART HEALTH: ADVANCED HEART DISEASE </a:t>
            </a:r>
            <a:br>
              <a:rPr lang="en-US" sz="1800" b="1" i="0" u="none" strike="noStrike" baseline="0" dirty="0">
                <a:solidFill>
                  <a:srgbClr val="800000"/>
                </a:solidFill>
                <a:latin typeface="Times New Roman" panose="02020603050405020304" pitchFamily="18" charset="0"/>
              </a:rPr>
            </a:br>
            <a:r>
              <a:rPr lang="en-US" sz="1800" b="1" i="0" u="none" strike="noStrike" baseline="0" dirty="0">
                <a:solidFill>
                  <a:srgbClr val="800000"/>
                </a:solidFill>
                <a:latin typeface="Times New Roman" panose="02020603050405020304" pitchFamily="18" charset="0"/>
              </a:rPr>
              <a:t>PREDICTION USING MACHINE LEARNING</a:t>
            </a:r>
            <a:r>
              <a:rPr lang="en-IN" sz="2800" b="1" dirty="0">
                <a:solidFill>
                  <a:srgbClr val="8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”</a:t>
            </a:r>
            <a:br>
              <a:rPr lang="en-IN" sz="2400" b="1" dirty="0">
                <a:solidFill>
                  <a:srgbClr val="0070C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br>
              <a:rPr lang="en-IN" sz="2400" b="1" dirty="0">
                <a:solidFill>
                  <a:srgbClr val="0070C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lang="en-IN" sz="1600" dirty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Presented By</a:t>
            </a:r>
            <a:br>
              <a:rPr lang="en-IN" sz="1600" dirty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lang="en-IN" sz="1600" b="1" dirty="0">
                <a:solidFill>
                  <a:srgbClr val="8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1. 1. </a:t>
            </a:r>
            <a:r>
              <a:rPr lang="en-IN" sz="1600" b="1" dirty="0">
                <a:solidFill>
                  <a:srgbClr val="800000"/>
                </a:solidFill>
                <a:latin typeface="Bookman Old Style"/>
                <a:ea typeface="Bookman Old Style"/>
                <a:cs typeface="Times New Roman" pitchFamily="18" charset="0"/>
                <a:sym typeface="Bookman Old Style"/>
              </a:rPr>
              <a:t>Saad Inamdar &amp;</a:t>
            </a:r>
            <a:r>
              <a:rPr lang="en-IN" sz="1600" b="1" dirty="0">
                <a:solidFill>
                  <a:srgbClr val="8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Roll No.59</a:t>
            </a:r>
            <a:br>
              <a:rPr lang="en-IN" sz="1600" b="1" dirty="0">
                <a:solidFill>
                  <a:srgbClr val="8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lang="en-IN" sz="1600" b="1" dirty="0">
                <a:solidFill>
                  <a:srgbClr val="8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2. </a:t>
            </a:r>
            <a:r>
              <a:rPr lang="en-IN" sz="1600" b="1" dirty="0">
                <a:solidFill>
                  <a:srgbClr val="800000"/>
                </a:solidFill>
                <a:latin typeface="Bookman Old Style"/>
                <a:ea typeface="Bookman Old Style"/>
                <a:cs typeface="Times New Roman" pitchFamily="18" charset="0"/>
                <a:sym typeface="Bookman Old Style"/>
              </a:rPr>
              <a:t>Arshad Perampalli &amp;</a:t>
            </a:r>
            <a:r>
              <a:rPr lang="en-IN" sz="1600" b="1" dirty="0">
                <a:solidFill>
                  <a:srgbClr val="8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Roll No.65</a:t>
            </a:r>
            <a:br>
              <a:rPr lang="en-IN" sz="1600" b="1" dirty="0">
                <a:solidFill>
                  <a:srgbClr val="8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br>
              <a:rPr lang="en-IN" sz="1600" b="1" dirty="0">
                <a:solidFill>
                  <a:srgbClr val="8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lang="en-IN" sz="1600" b="1" dirty="0">
                <a:solidFill>
                  <a:srgbClr val="800000"/>
                </a:solidFill>
                <a:latin typeface="Bookman Old Style"/>
                <a:ea typeface="Bookman Old Style"/>
                <a:cs typeface="Times New Roman" pitchFamily="18" charset="0"/>
                <a:sym typeface="Bookman Old Style"/>
              </a:rPr>
              <a:t>Class : T.Y. Sem.-I</a:t>
            </a:r>
            <a:br>
              <a:rPr lang="en-IN" sz="1600" b="1" dirty="0">
                <a:solidFill>
                  <a:srgbClr val="800000"/>
                </a:solidFill>
                <a:latin typeface="Bookman Old Style"/>
                <a:ea typeface="Bookman Old Style"/>
                <a:cs typeface="Times New Roman" pitchFamily="18" charset="0"/>
                <a:sym typeface="Bookman Old Style"/>
              </a:rPr>
            </a:br>
            <a:br>
              <a:rPr lang="en-IN" sz="1600" dirty="0">
                <a:solidFill>
                  <a:srgbClr val="7030A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lang="en-IN" sz="1600" dirty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Under the guidance of</a:t>
            </a:r>
            <a:br>
              <a:rPr lang="en-IN" sz="1800" b="0" i="0" u="none" strike="noStrike" baseline="0" dirty="0">
                <a:solidFill>
                  <a:srgbClr val="000000"/>
                </a:solidFill>
                <a:latin typeface="Bookman Old Style" panose="02050604050505020204" pitchFamily="18" charset="0"/>
              </a:rPr>
            </a:br>
            <a:r>
              <a:rPr lang="en-IN" sz="1800" b="0" i="0" u="none" strike="noStrike" baseline="0" dirty="0">
                <a:solidFill>
                  <a:srgbClr val="000000"/>
                </a:solidFill>
                <a:latin typeface="Bookman Old Style" panose="02050604050505020204" pitchFamily="18" charset="0"/>
              </a:rPr>
              <a:t> </a:t>
            </a:r>
            <a:r>
              <a:rPr lang="en-IN" sz="1800" b="1" i="0" u="none" strike="noStrike" baseline="0" dirty="0">
                <a:solidFill>
                  <a:srgbClr val="800000"/>
                </a:solidFill>
                <a:latin typeface="Bookman Old Style" panose="02050604050505020204" pitchFamily="18" charset="0"/>
              </a:rPr>
              <a:t>Prof. A. S. </a:t>
            </a:r>
            <a:r>
              <a:rPr lang="en-IN" sz="1800" b="1" i="0" u="none" strike="noStrike" baseline="0" dirty="0" err="1">
                <a:solidFill>
                  <a:srgbClr val="800000"/>
                </a:solidFill>
                <a:latin typeface="Bookman Old Style" panose="02050604050505020204" pitchFamily="18" charset="0"/>
              </a:rPr>
              <a:t>Adhatrao</a:t>
            </a:r>
            <a:br>
              <a:rPr lang="en-IN" sz="2400" b="1" dirty="0">
                <a:solidFill>
                  <a:srgbClr val="800000"/>
                </a:solidFill>
                <a:latin typeface="Bookman Old Style" pitchFamily="18" charset="0"/>
                <a:ea typeface="Bookman Old Style"/>
                <a:cs typeface="Times New Roman" pitchFamily="18" charset="0"/>
                <a:sym typeface="Bookman Old Style"/>
              </a:rPr>
            </a:br>
            <a:endParaRPr lang="en-IN" sz="2400" b="1" dirty="0">
              <a:solidFill>
                <a:srgbClr val="800000"/>
              </a:solidFill>
              <a:latin typeface="Bookman Old Style" pitchFamily="18" charset="0"/>
              <a:ea typeface="Bookman Old Style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3638550"/>
            <a:ext cx="8839200" cy="1066800"/>
          </a:xfrm>
        </p:spPr>
        <p:txBody>
          <a:bodyPr>
            <a:noAutofit/>
          </a:bodyPr>
          <a:lstStyle/>
          <a:p>
            <a:pPr lvl="0"/>
            <a:r>
              <a:rPr lang="en-US" sz="1800" b="1" dirty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Department of Artificial Intelligence &amp; Data Science</a:t>
            </a:r>
            <a:endParaRPr lang="en-IN" sz="1800" b="1" dirty="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lvl="0"/>
            <a:r>
              <a:rPr lang="en-IN" sz="1800" b="1" dirty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N.K. Orchid College of Engineering &amp; Technology, </a:t>
            </a:r>
            <a:r>
              <a:rPr lang="en-IN" sz="1800" b="1" dirty="0" err="1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Solapur</a:t>
            </a:r>
            <a:r>
              <a:rPr lang="en-IN" sz="1800" b="1" dirty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.</a:t>
            </a:r>
            <a:endParaRPr lang="en-IN" sz="1400" b="1" dirty="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lvl="0"/>
            <a:r>
              <a:rPr lang="en-IN" sz="1400" b="1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2024-2025</a:t>
            </a:r>
            <a:endParaRPr lang="en-IN" sz="1400" b="1" dirty="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85750"/>
            <a:ext cx="1257300" cy="12573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187053"/>
            <a:ext cx="1295400" cy="136234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788183196"/>
      </p:ext>
    </p:extLst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8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Contents</a:t>
            </a:r>
            <a:endParaRPr lang="en-IN" b="1" dirty="0">
              <a:solidFill>
                <a:srgbClr val="8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457200" lvl="0" indent="-457200" algn="just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400"/>
              <a:buFont typeface="+mj-lt"/>
              <a:buAutoNum type="arabicPeriod"/>
            </a:pPr>
            <a:r>
              <a:rPr lang="en-US" sz="2400" b="1" dirty="0">
                <a:latin typeface="Bookman Old Style" pitchFamily="18" charset="0"/>
                <a:sym typeface="Bookman Old Style"/>
              </a:rPr>
              <a:t>Introduction </a:t>
            </a:r>
          </a:p>
          <a:p>
            <a:pPr marL="457200" lvl="0" indent="-457200" algn="just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400"/>
              <a:buFont typeface="+mj-lt"/>
              <a:buAutoNum type="arabicPeriod"/>
            </a:pPr>
            <a:r>
              <a:rPr lang="en-US" sz="2400" b="1" dirty="0">
                <a:latin typeface="Bookman Old Style" pitchFamily="18" charset="0"/>
                <a:sym typeface="Bookman Old Style"/>
              </a:rPr>
              <a:t>Literature Review</a:t>
            </a:r>
            <a:endParaRPr lang="en-US" sz="2400" b="1" dirty="0">
              <a:latin typeface="Bookman Old Style" pitchFamily="18" charset="0"/>
            </a:endParaRPr>
          </a:p>
          <a:p>
            <a:pPr marL="457200" lvl="0" indent="-457200" algn="just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400"/>
              <a:buFont typeface="+mj-lt"/>
              <a:buAutoNum type="arabicPeriod"/>
            </a:pPr>
            <a:r>
              <a:rPr lang="en-US" sz="2400" b="1" dirty="0">
                <a:latin typeface="Bookman Old Style" pitchFamily="18" charset="0"/>
              </a:rPr>
              <a:t>Motivation and Problem statement</a:t>
            </a:r>
          </a:p>
          <a:p>
            <a:pPr marL="457200" lvl="0" indent="-457200" algn="just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400"/>
              <a:buFont typeface="+mj-lt"/>
              <a:buAutoNum type="arabicPeriod"/>
            </a:pPr>
            <a:r>
              <a:rPr lang="en-US" sz="2400" b="1" dirty="0">
                <a:latin typeface="Bookman Old Style" pitchFamily="18" charset="0"/>
              </a:rPr>
              <a:t>Requirement Analysis</a:t>
            </a:r>
          </a:p>
          <a:p>
            <a:pPr marL="457200" lvl="0" indent="-457200" algn="just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400"/>
              <a:buFont typeface="+mj-lt"/>
              <a:buAutoNum type="arabicPeriod"/>
            </a:pPr>
            <a:r>
              <a:rPr lang="en-US" sz="2400" b="1" dirty="0">
                <a:latin typeface="Bookman Old Style" pitchFamily="18" charset="0"/>
              </a:rPr>
              <a:t>Design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Bookman Old Style" pitchFamily="18" charset="0"/>
              </a:rPr>
              <a:t>6.   Implementation</a:t>
            </a:r>
          </a:p>
          <a:p>
            <a:pPr marL="0" lvl="0" indent="0" algn="just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Bookman Old Style" pitchFamily="18" charset="0"/>
              </a:rPr>
              <a:t>7.   Result and Discussion</a:t>
            </a:r>
          </a:p>
          <a:p>
            <a:pPr marL="0" lvl="0" indent="0" algn="just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Bookman Old Style" pitchFamily="18" charset="0"/>
              </a:rPr>
              <a:t>8.   Conclusion</a:t>
            </a:r>
          </a:p>
          <a:p>
            <a:pPr marL="1714500" lvl="4" indent="0" algn="just">
              <a:lnSpc>
                <a:spcPct val="150000"/>
              </a:lnSpc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endParaRPr lang="en-US" sz="1200" b="1" dirty="0">
              <a:latin typeface="Bookman Old Style" pitchFamily="18" charset="0"/>
              <a:sym typeface="Bookman Old Style"/>
            </a:endParaRPr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49CB4-7858-4800-AE60-C69521D5752B}" type="datetime5">
              <a:rPr lang="en-US" smtClean="0"/>
              <a:t>23-Nov-24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524000" y="4933950"/>
            <a:ext cx="6934200" cy="228600"/>
          </a:xfrm>
        </p:spPr>
        <p:txBody>
          <a:bodyPr/>
          <a:lstStyle/>
          <a:p>
            <a:r>
              <a:rPr lang="en-US" sz="1200" b="1" i="0" u="none" strike="noStrike" baseline="0" dirty="0">
                <a:latin typeface="Times New Roman" panose="02020603050405020304" pitchFamily="18" charset="0"/>
              </a:rPr>
              <a:t>SMART HEALTH: ADVANCED HEART DISEASE PREDICTION USING MACHINE LEARNING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115374"/>
      </p:ext>
    </p:extLst>
  </p:cSld>
  <p:clrMapOvr>
    <a:masterClrMapping/>
  </p:clrMapOvr>
  <p:transition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kern="0" dirty="0">
                <a:latin typeface="Times New Roman" pitchFamily="18" charset="0"/>
                <a:cs typeface="Times New Roman" pitchFamily="18" charset="0"/>
                <a:sym typeface="Bookman Old Style"/>
              </a:rPr>
              <a:t>Introduction</a:t>
            </a:r>
            <a:endParaRPr lang="en-IN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Heart disease is still a major cause of illness and death around the world, making it important to have better tools for early detection and prevention.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This study uses machine learning to predict the risk of heart disease by analyzing a variety of patient data, including personal, medical, and lifestyle information, and using  algorithms  logistic regression.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study finds that machine learning can more accurately predict heart disease than traditional methods and can help develop personalized healthcare solutions.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9E815-E9FA-4C4D-B8D9-A05D7343E09F}" type="datetime5">
              <a:rPr lang="en-US" smtClean="0"/>
              <a:t>23-Nov-24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524000" y="5120401"/>
            <a:ext cx="6934200" cy="45719"/>
          </a:xfrm>
        </p:spPr>
        <p:txBody>
          <a:bodyPr/>
          <a:lstStyle/>
          <a:p>
            <a:r>
              <a:rPr lang="en-US" sz="1200" b="1" i="0" u="none" strike="noStrike" baseline="0" dirty="0">
                <a:latin typeface="Times New Roman" panose="02020603050405020304" pitchFamily="18" charset="0"/>
              </a:rPr>
              <a:t>SMART HEALTH: ADVANCED HEART DISEASE PREDICTION USING MACHINE LEARNING</a:t>
            </a:r>
            <a:endParaRPr lang="en-US" dirty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255611"/>
      </p:ext>
    </p:extLst>
  </p:cSld>
  <p:clrMapOvr>
    <a:masterClrMapping/>
  </p:clrMapOvr>
  <p:transition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kern="0" dirty="0">
                <a:latin typeface="Bookman Old Style"/>
                <a:sym typeface="Bookman Old Style"/>
              </a:rPr>
              <a:t>Literature Review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Khare et al. (2020) used logistic regression to analyze clinical features such as blood pressure, cholesterol levels, and blood sugar, achieving over 85% accuracy on widely used datasets. </a:t>
            </a:r>
          </a:p>
          <a:p>
            <a:endParaRPr lang="en-US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Kumar et al. (2022) compared logistic regression with decision trees, support vector machines (SVM), and ensemble methods.</a:t>
            </a:r>
          </a:p>
          <a:p>
            <a:endParaRPr lang="en-US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Patel et al. (2021) highlighted the importance of transparency in clinical decision-making, which logistic regression provides by showing the contribution of individual features.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DD-MM-YY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0200" y="5120640"/>
            <a:ext cx="6934200" cy="45719"/>
          </a:xfrm>
        </p:spPr>
        <p:txBody>
          <a:bodyPr/>
          <a:lstStyle/>
          <a:p>
            <a:r>
              <a:rPr lang="en-US" sz="1200" b="1" i="0" u="none" strike="noStrike" baseline="0" dirty="0">
                <a:latin typeface="Times New Roman" panose="02020603050405020304" pitchFamily="18" charset="0"/>
              </a:rPr>
              <a:t>SMART HEALTH: ADVANCED HEART DISEASE PREDICTION USING MACHINE LEARNING</a:t>
            </a:r>
            <a:endParaRPr lang="en-US" dirty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501928"/>
      </p:ext>
    </p:extLst>
  </p:cSld>
  <p:clrMapOvr>
    <a:masterClrMapping/>
  </p:clrMapOvr>
  <p:transition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Bookman Old Style" pitchFamily="18" charset="0"/>
              </a:rPr>
              <a:t>Motivation and Problem statement</a:t>
            </a:r>
            <a:endParaRPr lang="en-IN" sz="2800" dirty="0">
              <a:solidFill>
                <a:srgbClr val="8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Heart disease remains one of the leading causes of mortality worldwide, emphasizing the urgent need for accurate and early prediction methods.</a:t>
            </a:r>
          </a:p>
          <a:p>
            <a:endParaRPr lang="en-US" dirty="0"/>
          </a:p>
          <a:p>
            <a:r>
              <a:rPr lang="en-US" dirty="0"/>
              <a:t>Logistic regression, with its simplicity and interpretability, provides a practical tool for identifying individuals at risk by analyzing critical health parameters. </a:t>
            </a:r>
          </a:p>
          <a:p>
            <a:endParaRPr lang="en-US" dirty="0"/>
          </a:p>
          <a:p>
            <a:r>
              <a:rPr lang="en-US" dirty="0"/>
              <a:t>The primary challenge lies in effectively leveraging this model to handle diverse patient data while balancing predictive accuracy and computational efficiency.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8E32F-E945-4556-9319-7E60B1C1603A}" type="datetime5">
              <a:rPr lang="en-US" smtClean="0"/>
              <a:t>23-Nov-24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524000" y="5116830"/>
            <a:ext cx="6934200" cy="45719"/>
          </a:xfrm>
        </p:spPr>
        <p:txBody>
          <a:bodyPr/>
          <a:lstStyle/>
          <a:p>
            <a:r>
              <a:rPr lang="en-US" sz="1200" b="1" i="0" u="none" strike="noStrike" baseline="0" dirty="0">
                <a:latin typeface="Times New Roman" panose="02020603050405020304" pitchFamily="18" charset="0"/>
              </a:rPr>
              <a:t>SMART HEALTH: ADVANCED HEART DISEASE PREDICTION USING MACHINE LEARNING</a:t>
            </a:r>
            <a:endParaRPr lang="en-US" dirty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78492"/>
      </p:ext>
    </p:extLst>
  </p:cSld>
  <p:clrMapOvr>
    <a:masterClrMapping/>
  </p:clrMapOvr>
  <p:transition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b="1" dirty="0">
                <a:latin typeface="Bookman Old Style" pitchFamily="18" charset="0"/>
              </a:rPr>
              <a:t>Requirement Analysis</a:t>
            </a:r>
            <a:br>
              <a:rPr lang="en-US" sz="2800" b="1" dirty="0">
                <a:latin typeface="Bookman Old Style" pitchFamily="18" charset="0"/>
              </a:rPr>
            </a:br>
            <a:endParaRPr lang="en-US" sz="2800" dirty="0">
              <a:solidFill>
                <a:srgbClr val="8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endParaRPr lang="en-IN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IN" sz="1800" b="1" i="0" u="none" strike="noStrike" baseline="0" dirty="0">
                <a:latin typeface="Calibri" panose="020F0502020204030204" pitchFamily="34" charset="0"/>
              </a:rPr>
              <a:t>Front-end: </a:t>
            </a:r>
            <a:r>
              <a:rPr lang="en-IN" sz="1800" dirty="0" err="1">
                <a:latin typeface="Calibri" panose="020F0502020204030204" pitchFamily="34" charset="0"/>
              </a:rPr>
              <a:t>Streamlit</a:t>
            </a:r>
            <a:endParaRPr lang="en-IN" sz="1800" b="0" i="0" u="none" strike="noStrike" baseline="0" dirty="0">
              <a:latin typeface="Calibri" panose="020F0502020204030204" pitchFamily="34" charset="0"/>
            </a:endParaRPr>
          </a:p>
          <a:p>
            <a:r>
              <a:rPr lang="en-IN" sz="1800" b="1" i="0" u="none" strike="noStrike" baseline="0" dirty="0">
                <a:latin typeface="Calibri" panose="020F0502020204030204" pitchFamily="34" charset="0"/>
              </a:rPr>
              <a:t>Backend: </a:t>
            </a:r>
            <a:r>
              <a:rPr lang="en-IN" sz="1800" b="0" i="0" u="none" strike="noStrike" baseline="0" dirty="0">
                <a:latin typeface="Calibri" panose="020F0502020204030204" pitchFamily="34" charset="0"/>
              </a:rPr>
              <a:t>Python</a:t>
            </a:r>
          </a:p>
          <a:p>
            <a:r>
              <a:rPr lang="en-IN" sz="1800" b="1" i="0" u="none" strike="noStrike" baseline="0" dirty="0">
                <a:latin typeface="Calibri" panose="020F0502020204030204" pitchFamily="34" charset="0"/>
              </a:rPr>
              <a:t>Application: </a:t>
            </a:r>
            <a:r>
              <a:rPr lang="en-IN" sz="1800" dirty="0">
                <a:latin typeface="Calibri" panose="020F0502020204030204" pitchFamily="34" charset="0"/>
              </a:rPr>
              <a:t>VS-CODE</a:t>
            </a:r>
            <a:endParaRPr lang="en-IN" sz="1800" b="0" i="0" u="none" strike="noStrike" baseline="0" dirty="0">
              <a:latin typeface="Calibri" panose="020F0502020204030204" pitchFamily="34" charset="0"/>
            </a:endParaRPr>
          </a:p>
          <a:p>
            <a:r>
              <a:rPr lang="en-US" sz="1800" b="1" i="0" u="none" strike="noStrike" baseline="0" dirty="0">
                <a:latin typeface="Calibri" panose="020F0502020204030204" pitchFamily="34" charset="0"/>
              </a:rPr>
              <a:t>Hardware: </a:t>
            </a:r>
            <a:r>
              <a:rPr lang="en-US" sz="1800" i="0" u="none" strike="noStrike" baseline="0" dirty="0">
                <a:latin typeface="Calibri" panose="020F0502020204030204" pitchFamily="34" charset="0"/>
              </a:rPr>
              <a:t>C</a:t>
            </a:r>
            <a:r>
              <a:rPr lang="en-US" sz="1800" dirty="0">
                <a:latin typeface="Calibri" panose="020F0502020204030204" pitchFamily="34" charset="0"/>
              </a:rPr>
              <a:t>omputer System , Memory ,</a:t>
            </a:r>
            <a:r>
              <a:rPr lang="en-IN" sz="1100" dirty="0"/>
              <a:t> </a:t>
            </a:r>
            <a:r>
              <a:rPr lang="en-IN" sz="1800" dirty="0"/>
              <a:t>Networking Hardware</a:t>
            </a:r>
            <a:endParaRPr lang="en-US" sz="1800" b="0" i="0" u="none" strike="noStrike" baseline="0" dirty="0">
              <a:latin typeface="Calibri" panose="020F0502020204030204" pitchFamily="34" charset="0"/>
            </a:endParaRPr>
          </a:p>
          <a:p>
            <a:r>
              <a:rPr lang="en-IN" sz="1800" b="1" i="0" u="none" strike="noStrike" baseline="0" dirty="0">
                <a:latin typeface="Calibri" panose="020F0502020204030204" pitchFamily="34" charset="0"/>
              </a:rPr>
              <a:t>Technologies: </a:t>
            </a:r>
            <a:r>
              <a:rPr lang="en-IN" sz="1800" dirty="0"/>
              <a:t>Machine Learning Frameworks, Python Libraries ,IDE</a:t>
            </a:r>
            <a:endParaRPr lang="en-IN" sz="1800" b="0" i="0" u="none" strike="noStrike" baseline="0" dirty="0">
              <a:latin typeface="Calibri" panose="020F0502020204030204" pitchFamily="34" charset="0"/>
            </a:endParaRPr>
          </a:p>
          <a:p>
            <a:endParaRPr lang="en-IN" sz="1800" b="0" i="0" u="none" strike="noStrike" baseline="0" dirty="0"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DEF7B-8F7B-4724-84CF-0612C3F66405}" type="datetime5">
              <a:rPr lang="en-US" smtClean="0"/>
              <a:t>23-Nov-24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85900" y="5029200"/>
            <a:ext cx="7010400" cy="431004"/>
          </a:xfrm>
        </p:spPr>
        <p:txBody>
          <a:bodyPr/>
          <a:lstStyle/>
          <a:p>
            <a:r>
              <a:rPr lang="en-US" sz="1200" b="1" i="0" u="none" strike="noStrike" baseline="0" dirty="0">
                <a:latin typeface="Times New Roman" panose="02020603050405020304" pitchFamily="18" charset="0"/>
              </a:rPr>
              <a:t>SMART HEALTH: ADVANCED HEART DISEASE PREDICTION USING MACHINE LEARNING</a:t>
            </a:r>
            <a:endParaRPr lang="en-US" dirty="0"/>
          </a:p>
          <a:p>
            <a:endParaRPr lang="en-US" dirty="0"/>
          </a:p>
          <a:p>
            <a:r>
              <a:rPr lang="en-US" dirty="0"/>
              <a:t>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297101"/>
      </p:ext>
    </p:extLst>
  </p:cSld>
  <p:clrMapOvr>
    <a:masterClrMapping/>
  </p:clrMapOvr>
  <p:transition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b="1" dirty="0">
                <a:latin typeface="Bookman Old Style" pitchFamily="18" charset="0"/>
              </a:rPr>
              <a:t>Design</a:t>
            </a:r>
            <a:br>
              <a:rPr lang="en-US" sz="4400" b="1" dirty="0">
                <a:latin typeface="Bookman Old Style" pitchFamily="18" charset="0"/>
              </a:rPr>
            </a:br>
            <a:endParaRPr lang="en-US" dirty="0">
              <a:solidFill>
                <a:srgbClr val="80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656BB-791F-4255-94EC-82C42A5F5982}" type="datetime5">
              <a:rPr lang="en-US" smtClean="0"/>
              <a:t>23-Nov-24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518356" y="5120640"/>
            <a:ext cx="6934200" cy="45719"/>
          </a:xfrm>
        </p:spPr>
        <p:txBody>
          <a:bodyPr/>
          <a:lstStyle/>
          <a:p>
            <a:r>
              <a:rPr lang="en-US" sz="1200" b="1" i="0" u="none" strike="noStrike" baseline="0" dirty="0">
                <a:latin typeface="Times New Roman" panose="02020603050405020304" pitchFamily="18" charset="0"/>
              </a:rPr>
              <a:t>SMART HEALTH: ADVANCED HEART DISEASE PREDICTION USING MACHINE LEARNING</a:t>
            </a:r>
            <a:endParaRPr lang="en-US" dirty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7A3FA380-A11B-7C3B-3FDE-93CB060E6F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819150"/>
            <a:ext cx="3352800" cy="3916681"/>
          </a:xfrm>
        </p:spPr>
      </p:pic>
    </p:spTree>
    <p:extLst>
      <p:ext uri="{BB962C8B-B14F-4D97-AF65-F5344CB8AC3E}">
        <p14:creationId xmlns:p14="http://schemas.microsoft.com/office/powerpoint/2010/main" val="3697027922"/>
      </p:ext>
    </p:extLst>
  </p:cSld>
  <p:clrMapOvr>
    <a:masterClrMapping/>
  </p:clrMapOvr>
  <p:transition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Bookman Old Style" pitchFamily="18" charset="0"/>
              </a:rPr>
              <a:t>Implementation</a:t>
            </a:r>
            <a:endParaRPr lang="en-US" sz="2800" dirty="0">
              <a:solidFill>
                <a:srgbClr val="80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F70C0-2300-44A5-8EF7-1C0E56D7B68B}" type="datetime5">
              <a:rPr lang="en-US" smtClean="0"/>
              <a:t>23-Nov-24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524000" y="5116830"/>
            <a:ext cx="6934200" cy="45719"/>
          </a:xfrm>
        </p:spPr>
        <p:txBody>
          <a:bodyPr/>
          <a:lstStyle/>
          <a:p>
            <a:r>
              <a:rPr lang="en-US" sz="1200" b="1" i="0" u="none" strike="noStrike" baseline="0" dirty="0">
                <a:latin typeface="Times New Roman" panose="02020603050405020304" pitchFamily="18" charset="0"/>
              </a:rPr>
              <a:t>SMART HEALTH: ADVANCED HEART DISEASE PREDICTION USING MACHINE LEARNING</a:t>
            </a:r>
            <a:endParaRPr lang="en-US" dirty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5097961-5776-324D-7348-220499FF23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Dataset Collection</a:t>
            </a:r>
          </a:p>
          <a:p>
            <a:r>
              <a:rPr lang="en-IN" sz="1800" dirty="0"/>
              <a:t>Data Preprocessing</a:t>
            </a:r>
            <a:endParaRPr lang="en-IN" sz="18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1800" dirty="0"/>
              <a:t>Train the Logistic Regression Model</a:t>
            </a:r>
            <a:endParaRPr lang="en-IN" sz="18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IN" sz="1800" dirty="0"/>
              <a:t>Make Predictions</a:t>
            </a:r>
            <a:endParaRPr lang="en-IN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IN" sz="1800" dirty="0"/>
              <a:t>Evaluate the model</a:t>
            </a:r>
          </a:p>
          <a:p>
            <a:r>
              <a:rPr lang="en-IN" sz="1800" dirty="0">
                <a:solidFill>
                  <a:srgbClr val="000000"/>
                </a:solidFill>
                <a:latin typeface="Calibri" panose="020F0502020204030204" pitchFamily="34" charset="0"/>
              </a:rPr>
              <a:t>Simple UI</a:t>
            </a:r>
          </a:p>
          <a:p>
            <a:r>
              <a:rPr lang="en-IN" sz="1800" dirty="0"/>
              <a:t>Test the Model</a:t>
            </a:r>
            <a:endParaRPr lang="en-IN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5317503"/>
      </p:ext>
    </p:extLst>
  </p:cSld>
  <p:clrMapOvr>
    <a:masterClrMapping/>
  </p:clrMapOvr>
  <p:transition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Bookman Old Style" pitchFamily="18" charset="0"/>
              </a:rPr>
              <a:t>Result and Discussion</a:t>
            </a:r>
            <a:endParaRPr lang="en-US" sz="2800" dirty="0">
              <a:solidFill>
                <a:srgbClr val="80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9691D-29F2-49E5-B3EA-468AD18B27D8}" type="datetime5">
              <a:rPr lang="en-US" smtClean="0"/>
              <a:t>23-Nov-24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524000" y="5120640"/>
            <a:ext cx="6934200" cy="45719"/>
          </a:xfrm>
        </p:spPr>
        <p:txBody>
          <a:bodyPr/>
          <a:lstStyle/>
          <a:p>
            <a:r>
              <a:rPr lang="en-US" sz="1200" b="1" i="0" u="none" strike="noStrike" baseline="0" dirty="0">
                <a:latin typeface="Times New Roman" panose="02020603050405020304" pitchFamily="18" charset="0"/>
              </a:rPr>
              <a:t>SMART HEALTH: ADVANCED HEART DISEASE PREDICTION USING MACHINE LEARNING</a:t>
            </a:r>
            <a:endParaRPr lang="en-US" dirty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BA825DC9-CC53-5DF0-1692-FD50984CC4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1" y="971550"/>
            <a:ext cx="2438399" cy="3809999"/>
          </a:xfr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FB41D0A-A650-08AC-0D78-6275245826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971550"/>
            <a:ext cx="2971800" cy="380999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B6C5DB3-C6BB-27D5-62EE-DD98DD3F3A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956" y="929116"/>
            <a:ext cx="2895600" cy="194743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2FDDE8C-DC12-462E-F273-58ED6881065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956" y="2900749"/>
            <a:ext cx="2858911" cy="1784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029767"/>
      </p:ext>
    </p:extLst>
  </p:cSld>
  <p:clrMapOvr>
    <a:masterClrMapping/>
  </p:clrMapOvr>
  <p:transition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kern="0" dirty="0">
                <a:latin typeface="Bookman Old Style"/>
                <a:sym typeface="Bookman Old Style"/>
              </a:rPr>
              <a:t>Conclusion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logistic regression proves to be an effective tool for predicting heart disease by analyzing key factors such as age, cholesterol levels, and blood pressure.</a:t>
            </a:r>
          </a:p>
          <a:p>
            <a:endParaRPr lang="en-US" dirty="0"/>
          </a:p>
          <a:p>
            <a:r>
              <a:rPr lang="en-US" dirty="0"/>
              <a:t>The model offers a clear understanding of how various variables contribute to the likelihood of heart disease, providing valuable insights for early diagnosis and intervention.</a:t>
            </a:r>
          </a:p>
          <a:p>
            <a:endParaRPr lang="en-US" dirty="0"/>
          </a:p>
          <a:p>
            <a:r>
              <a:rPr lang="en-US" dirty="0"/>
              <a:t>However, further refinement and the inclusion of more diverse data could enhance the model's accuracy and generalizability for broader applications.</a:t>
            </a:r>
            <a:endParaRPr lang="en-IN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E23C1-5B44-4112-93AF-A30E9A7C524B}" type="datetime5">
              <a:rPr lang="en-US" smtClean="0"/>
              <a:t>23-Nov-24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0200" y="5116830"/>
            <a:ext cx="6781800" cy="45719"/>
          </a:xfrm>
        </p:spPr>
        <p:txBody>
          <a:bodyPr/>
          <a:lstStyle/>
          <a:p>
            <a:endParaRPr lang="en-US" dirty="0"/>
          </a:p>
          <a:p>
            <a:r>
              <a:rPr lang="en-US" sz="1200" b="1" i="0" u="none" strike="noStrike" baseline="0" dirty="0">
                <a:latin typeface="Times New Roman" panose="02020603050405020304" pitchFamily="18" charset="0"/>
              </a:rPr>
              <a:t>SMART HEALTH: ADVANCED HEART DISEASE PREDICTION USING MACHINE LEARNING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519315"/>
      </p:ext>
    </p:extLst>
  </p:cSld>
  <p:clrMapOvr>
    <a:masterClrMapping/>
  </p:clrMapOvr>
  <p:transition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D8B07-EB38-4AA3-B362-3D7CB8E9D62E}" type="datetime5">
              <a:rPr lang="en-US" smtClean="0"/>
              <a:t>23-Nov-24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74147" y="1246921"/>
            <a:ext cx="5395705" cy="35814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Title 2"/>
          <p:cNvSpPr txBox="1">
            <a:spLocks/>
          </p:cNvSpPr>
          <p:nvPr/>
        </p:nvSpPr>
        <p:spPr bwMode="auto">
          <a:xfrm>
            <a:off x="1333500" y="361950"/>
            <a:ext cx="6477000" cy="85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n-I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aleway" pitchFamily="34" charset="0"/>
              </a:rPr>
              <a:t>THANK YOU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1524000" y="5105400"/>
            <a:ext cx="6934200" cy="76200"/>
          </a:xfrm>
        </p:spPr>
        <p:txBody>
          <a:bodyPr/>
          <a:lstStyle/>
          <a:p>
            <a:r>
              <a:rPr lang="en-US" sz="1200" b="1" i="0" u="none" strike="noStrike" baseline="0" dirty="0">
                <a:latin typeface="Times New Roman" panose="02020603050405020304" pitchFamily="18" charset="0"/>
              </a:rPr>
              <a:t>SMART HEALTH: ADVANCED HEART DISEASE PREDICTION USING MACHINE LEARNING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0791548"/>
      </p:ext>
    </p:extLst>
  </p:cSld>
  <p:clrMapOvr>
    <a:masterClrMapping/>
  </p:clrMapOvr>
  <p:transition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9528</TotalTime>
  <Words>621</Words>
  <Application>Microsoft Office PowerPoint</Application>
  <PresentationFormat>On-screen Show (16:9)</PresentationFormat>
  <Paragraphs>88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Bookman Old Style</vt:lpstr>
      <vt:lpstr>Calibri</vt:lpstr>
      <vt:lpstr>Raleway</vt:lpstr>
      <vt:lpstr>Times New Roman</vt:lpstr>
      <vt:lpstr>Office Theme</vt:lpstr>
      <vt:lpstr>A Mini Project  on “ SMART HEALTH: ADVANCED HEART DISEASE  PREDICTION USING MACHINE LEARNING”  Presented By 1. 1. Saad Inamdar &amp; Roll No.59 2. Arshad Perampalli &amp; Roll No.65  Class : T.Y. Sem.-I  Under the guidance of  Prof. A. S. Adhatrao </vt:lpstr>
      <vt:lpstr>Contents</vt:lpstr>
      <vt:lpstr>Introduction</vt:lpstr>
      <vt:lpstr>Literature Review</vt:lpstr>
      <vt:lpstr>Motivation and Problem statement</vt:lpstr>
      <vt:lpstr>Requirement Analysis </vt:lpstr>
      <vt:lpstr>Design </vt:lpstr>
      <vt:lpstr>Implementation</vt:lpstr>
      <vt:lpstr>Result and Discussion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Adesh Chandanshive</dc:creator>
  <cp:keywords>Orchid EnTC</cp:keywords>
  <cp:lastModifiedBy>Ubada Perampalli</cp:lastModifiedBy>
  <cp:revision>346</cp:revision>
  <dcterms:created xsi:type="dcterms:W3CDTF">2006-08-16T00:00:00Z</dcterms:created>
  <dcterms:modified xsi:type="dcterms:W3CDTF">2024-11-24T12:27:44Z</dcterms:modified>
</cp:coreProperties>
</file>